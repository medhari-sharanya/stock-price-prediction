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6DF2DA-FA04-458E-94E9-AC86AD2421C3}" v="7" dt="2024-08-28T13:35:03.7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Tejasri" userId="b85212e4761ccb0c" providerId="LiveId" clId="{1E6DF2DA-FA04-458E-94E9-AC86AD2421C3}"/>
    <pc:docChg chg="custSel modSld">
      <pc:chgData name="M Tejasri" userId="b85212e4761ccb0c" providerId="LiveId" clId="{1E6DF2DA-FA04-458E-94E9-AC86AD2421C3}" dt="2024-08-28T13:41:07.014" v="688" actId="120"/>
      <pc:docMkLst>
        <pc:docMk/>
      </pc:docMkLst>
      <pc:sldChg chg="modSp mod">
        <pc:chgData name="M Tejasri" userId="b85212e4761ccb0c" providerId="LiveId" clId="{1E6DF2DA-FA04-458E-94E9-AC86AD2421C3}" dt="2024-08-28T13:41:07.014" v="688" actId="120"/>
        <pc:sldMkLst>
          <pc:docMk/>
          <pc:sldMk cId="1919550392" sldId="257"/>
        </pc:sldMkLst>
        <pc:spChg chg="mod">
          <ac:chgData name="M Tejasri" userId="b85212e4761ccb0c" providerId="LiveId" clId="{1E6DF2DA-FA04-458E-94E9-AC86AD2421C3}" dt="2024-08-28T13:41:07.014" v="688" actId="120"/>
          <ac:spMkLst>
            <pc:docMk/>
            <pc:sldMk cId="1919550392" sldId="257"/>
            <ac:spMk id="2" creationId="{72291EEA-7F12-667F-EA2F-51B554561E30}"/>
          </ac:spMkLst>
        </pc:spChg>
      </pc:sldChg>
      <pc:sldChg chg="addSp delSp modSp mod">
        <pc:chgData name="M Tejasri" userId="b85212e4761ccb0c" providerId="LiveId" clId="{1E6DF2DA-FA04-458E-94E9-AC86AD2421C3}" dt="2024-08-28T13:26:12.647" v="343" actId="1076"/>
        <pc:sldMkLst>
          <pc:docMk/>
          <pc:sldMk cId="3824237773" sldId="261"/>
        </pc:sldMkLst>
        <pc:spChg chg="del">
          <ac:chgData name="M Tejasri" userId="b85212e4761ccb0c" providerId="LiveId" clId="{1E6DF2DA-FA04-458E-94E9-AC86AD2421C3}" dt="2024-08-28T13:05:19.664" v="0" actId="931"/>
          <ac:spMkLst>
            <pc:docMk/>
            <pc:sldMk cId="3824237773" sldId="261"/>
            <ac:spMk id="3" creationId="{1479409F-8877-D7C1-E124-DBBFC9FECDCF}"/>
          </ac:spMkLst>
        </pc:spChg>
        <pc:picChg chg="add mod">
          <ac:chgData name="M Tejasri" userId="b85212e4761ccb0c" providerId="LiveId" clId="{1E6DF2DA-FA04-458E-94E9-AC86AD2421C3}" dt="2024-08-28T13:22:21.489" v="336" actId="1076"/>
          <ac:picMkLst>
            <pc:docMk/>
            <pc:sldMk cId="3824237773" sldId="261"/>
            <ac:picMk id="5" creationId="{B4A0EAAA-60D3-AA43-8C9B-383595A366FB}"/>
          </ac:picMkLst>
        </pc:picChg>
        <pc:picChg chg="add mod">
          <ac:chgData name="M Tejasri" userId="b85212e4761ccb0c" providerId="LiveId" clId="{1E6DF2DA-FA04-458E-94E9-AC86AD2421C3}" dt="2024-08-28T13:26:00.930" v="341" actId="14100"/>
          <ac:picMkLst>
            <pc:docMk/>
            <pc:sldMk cId="3824237773" sldId="261"/>
            <ac:picMk id="7" creationId="{0678E4EF-09ED-E167-5F0F-0E5E974C8651}"/>
          </ac:picMkLst>
        </pc:picChg>
        <pc:picChg chg="add mod">
          <ac:chgData name="M Tejasri" userId="b85212e4761ccb0c" providerId="LiveId" clId="{1E6DF2DA-FA04-458E-94E9-AC86AD2421C3}" dt="2024-08-28T13:26:12.647" v="343" actId="1076"/>
          <ac:picMkLst>
            <pc:docMk/>
            <pc:sldMk cId="3824237773" sldId="261"/>
            <ac:picMk id="9" creationId="{FD1B7C4D-C94D-189C-1730-081F7421D398}"/>
          </ac:picMkLst>
        </pc:picChg>
      </pc:sldChg>
      <pc:sldChg chg="modSp mod">
        <pc:chgData name="M Tejasri" userId="b85212e4761ccb0c" providerId="LiveId" clId="{1E6DF2DA-FA04-458E-94E9-AC86AD2421C3}" dt="2024-08-28T13:30:29.937" v="490" actId="20577"/>
        <pc:sldMkLst>
          <pc:docMk/>
          <pc:sldMk cId="3843865791" sldId="262"/>
        </pc:sldMkLst>
        <pc:spChg chg="mod">
          <ac:chgData name="M Tejasri" userId="b85212e4761ccb0c" providerId="LiveId" clId="{1E6DF2DA-FA04-458E-94E9-AC86AD2421C3}" dt="2024-08-28T13:30:29.937" v="490" actId="20577"/>
          <ac:spMkLst>
            <pc:docMk/>
            <pc:sldMk cId="3843865791" sldId="262"/>
            <ac:spMk id="3" creationId="{E0EB249C-B992-6BF6-0BD7-2649D58C800B}"/>
          </ac:spMkLst>
        </pc:spChg>
      </pc:sldChg>
      <pc:sldChg chg="modSp mod">
        <pc:chgData name="M Tejasri" userId="b85212e4761ccb0c" providerId="LiveId" clId="{1E6DF2DA-FA04-458E-94E9-AC86AD2421C3}" dt="2024-08-28T13:12:57.342" v="167"/>
        <pc:sldMkLst>
          <pc:docMk/>
          <pc:sldMk cId="3761917964" sldId="263"/>
        </pc:sldMkLst>
        <pc:spChg chg="mod">
          <ac:chgData name="M Tejasri" userId="b85212e4761ccb0c" providerId="LiveId" clId="{1E6DF2DA-FA04-458E-94E9-AC86AD2421C3}" dt="2024-08-28T13:12:57.342" v="167"/>
          <ac:spMkLst>
            <pc:docMk/>
            <pc:sldMk cId="3761917964" sldId="263"/>
            <ac:spMk id="3" creationId="{5B6E407D-0B23-599B-3804-BA3B856CBD7B}"/>
          </ac:spMkLst>
        </pc:spChg>
      </pc:sldChg>
      <pc:sldChg chg="modSp mod">
        <pc:chgData name="M Tejasri" userId="b85212e4761ccb0c" providerId="LiveId" clId="{1E6DF2DA-FA04-458E-94E9-AC86AD2421C3}" dt="2024-08-28T13:35:59.640" v="687" actId="20577"/>
        <pc:sldMkLst>
          <pc:docMk/>
          <pc:sldMk cId="1961399985" sldId="264"/>
        </pc:sldMkLst>
        <pc:spChg chg="mod">
          <ac:chgData name="M Tejasri" userId="b85212e4761ccb0c" providerId="LiveId" clId="{1E6DF2DA-FA04-458E-94E9-AC86AD2421C3}" dt="2024-08-28T13:35:59.640" v="687" actId="20577"/>
          <ac:spMkLst>
            <pc:docMk/>
            <pc:sldMk cId="1961399985" sldId="264"/>
            <ac:spMk id="3" creationId="{7E51FE4D-C32E-B30E-FC2F-9BAB2A490A8E}"/>
          </ac:spMkLst>
        </pc:spChg>
      </pc:sldChg>
      <pc:sldChg chg="modSp mod">
        <pc:chgData name="M Tejasri" userId="b85212e4761ccb0c" providerId="LiveId" clId="{1E6DF2DA-FA04-458E-94E9-AC86AD2421C3}" dt="2024-08-28T13:17:46.115" v="328" actId="20577"/>
        <pc:sldMkLst>
          <pc:docMk/>
          <pc:sldMk cId="2164357560" sldId="265"/>
        </pc:sldMkLst>
        <pc:spChg chg="mod">
          <ac:chgData name="M Tejasri" userId="b85212e4761ccb0c" providerId="LiveId" clId="{1E6DF2DA-FA04-458E-94E9-AC86AD2421C3}" dt="2024-08-28T13:17:46.115" v="328" actId="20577"/>
          <ac:spMkLst>
            <pc:docMk/>
            <pc:sldMk cId="2164357560" sldId="265"/>
            <ac:spMk id="3" creationId="{6E2BCFEF-0465-CACF-202A-0B8BDB3F2F23}"/>
          </ac:spMkLst>
        </pc:spChg>
      </pc:sldChg>
      <pc:sldChg chg="modSp mod">
        <pc:chgData name="M Tejasri" userId="b85212e4761ccb0c" providerId="LiveId" clId="{1E6DF2DA-FA04-458E-94E9-AC86AD2421C3}" dt="2024-08-28T13:33:09.401" v="517" actId="20577"/>
        <pc:sldMkLst>
          <pc:docMk/>
          <pc:sldMk cId="4074134874" sldId="266"/>
        </pc:sldMkLst>
        <pc:spChg chg="mod">
          <ac:chgData name="M Tejasri" userId="b85212e4761ccb0c" providerId="LiveId" clId="{1E6DF2DA-FA04-458E-94E9-AC86AD2421C3}" dt="2024-08-28T13:33:09.401" v="517" actId="20577"/>
          <ac:spMkLst>
            <pc:docMk/>
            <pc:sldMk cId="4074134874" sldId="266"/>
            <ac:spMk id="3" creationId="{784AF697-0E5E-588C-19C2-E06372C1F3DE}"/>
          </ac:spMkLst>
        </pc:spChg>
      </pc:sldChg>
      <pc:sldChg chg="addSp delSp modSp mod">
        <pc:chgData name="M Tejasri" userId="b85212e4761ccb0c" providerId="LiveId" clId="{1E6DF2DA-FA04-458E-94E9-AC86AD2421C3}" dt="2024-08-28T13:35:14.341" v="522" actId="478"/>
        <pc:sldMkLst>
          <pc:docMk/>
          <pc:sldMk cId="459370767" sldId="267"/>
        </pc:sldMkLst>
        <pc:spChg chg="del">
          <ac:chgData name="M Tejasri" userId="b85212e4761ccb0c" providerId="LiveId" clId="{1E6DF2DA-FA04-458E-94E9-AC86AD2421C3}" dt="2024-08-28T13:35:14.341" v="522" actId="478"/>
          <ac:spMkLst>
            <pc:docMk/>
            <pc:sldMk cId="459370767" sldId="267"/>
            <ac:spMk id="2" creationId="{D46B900F-E259-D98D-0E76-ABEA31C8151D}"/>
          </ac:spMkLst>
        </pc:spChg>
        <pc:spChg chg="del">
          <ac:chgData name="M Tejasri" userId="b85212e4761ccb0c" providerId="LiveId" clId="{1E6DF2DA-FA04-458E-94E9-AC86AD2421C3}" dt="2024-08-28T13:34:48.439" v="518"/>
          <ac:spMkLst>
            <pc:docMk/>
            <pc:sldMk cId="459370767" sldId="267"/>
            <ac:spMk id="3" creationId="{7B71A3B4-8EA3-EE29-AB1C-E9FD280249A8}"/>
          </ac:spMkLst>
        </pc:spChg>
        <pc:picChg chg="add mod">
          <ac:chgData name="M Tejasri" userId="b85212e4761ccb0c" providerId="LiveId" clId="{1E6DF2DA-FA04-458E-94E9-AC86AD2421C3}" dt="2024-08-28T13:35:03.703" v="521" actId="14100"/>
          <ac:picMkLst>
            <pc:docMk/>
            <pc:sldMk cId="459370767" sldId="267"/>
            <ac:picMk id="1026" creationId="{6F20CC29-845E-A65D-0812-350BEDA9626F}"/>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C19646BB-22E0-4296-A48C-06CB34F057AB}" type="datetimeFigureOut">
              <a:rPr lang="en-IN" smtClean="0"/>
              <a:t>28-08-2024</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3739917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646BB-22E0-4296-A48C-06CB34F057AB}" type="datetimeFigureOut">
              <a:rPr lang="en-IN" smtClean="0"/>
              <a:t>28-08-2024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320868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C19646BB-22E0-4296-A48C-06CB34F057AB}" type="datetimeFigureOut">
              <a:rPr lang="en-IN" smtClean="0"/>
              <a:t>28-08-2024</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566591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271760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9646BB-22E0-4296-A48C-06CB34F057AB}" type="datetimeFigureOut">
              <a:rPr lang="en-IN" smtClean="0"/>
              <a:t>28-08-2024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426478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9646BB-22E0-4296-A48C-06CB34F057AB}" type="datetimeFigureOut">
              <a:rPr lang="en-IN" smtClean="0"/>
              <a:t>28-08-2024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18749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9646BB-22E0-4296-A48C-06CB34F057AB}" type="datetimeFigureOut">
              <a:rPr lang="en-IN" smtClean="0"/>
              <a:t>28-08-2024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392718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400705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399467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939451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803662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50C25C6C-9518-4AD2-ADF9-ABB46DA8B4D2}"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74072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C19646BB-22E0-4296-A48C-06CB34F057AB}" type="datetimeFigureOut">
              <a:rPr lang="en-IN" smtClean="0"/>
              <a:t>28-08-2024</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364952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9646BB-22E0-4296-A48C-06CB34F057AB}" type="datetimeFigureOut">
              <a:rPr lang="en-IN" smtClean="0"/>
              <a:t>28-08-2024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4137950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9646BB-22E0-4296-A48C-06CB34F057AB}" type="datetimeFigureOut">
              <a:rPr lang="en-IN" smtClean="0"/>
              <a:t>28-08-2024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2902564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9646BB-22E0-4296-A48C-06CB34F057AB}" type="datetimeFigureOut">
              <a:rPr lang="en-IN" smtClean="0"/>
              <a:t>28-08-2024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1703820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C19646BB-22E0-4296-A48C-06CB34F057AB}" type="datetimeFigureOut">
              <a:rPr lang="en-IN" smtClean="0"/>
              <a:t>28-08-2024</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50C25C6C-9518-4AD2-ADF9-ABB46DA8B4D2}" type="slidenum">
              <a:rPr lang="en-IN" smtClean="0"/>
              <a:t>‹#›</a:t>
            </a:fld>
            <a:endParaRPr lang="en-IN"/>
          </a:p>
        </p:txBody>
      </p:sp>
    </p:spTree>
    <p:extLst>
      <p:ext uri="{BB962C8B-B14F-4D97-AF65-F5344CB8AC3E}">
        <p14:creationId xmlns:p14="http://schemas.microsoft.com/office/powerpoint/2010/main" val="3631298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9646BB-22E0-4296-A48C-06CB34F057AB}" type="datetimeFigureOut">
              <a:rPr lang="en-IN" smtClean="0"/>
              <a:t>28-08-2024</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0C25C6C-9518-4AD2-ADF9-ABB46DA8B4D2}" type="slidenum">
              <a:rPr lang="en-IN" smtClean="0"/>
              <a:t>‹#›</a:t>
            </a:fld>
            <a:endParaRPr lang="en-IN"/>
          </a:p>
        </p:txBody>
      </p:sp>
    </p:spTree>
    <p:extLst>
      <p:ext uri="{BB962C8B-B14F-4D97-AF65-F5344CB8AC3E}">
        <p14:creationId xmlns:p14="http://schemas.microsoft.com/office/powerpoint/2010/main" val="235980329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ock Market Prediction Using Machine ...">
            <a:extLst>
              <a:ext uri="{FF2B5EF4-FFF2-40B4-BE49-F238E27FC236}">
                <a16:creationId xmlns:a16="http://schemas.microsoft.com/office/drawing/2014/main" id="{517F814B-F51D-7E70-F673-5E6FD2E49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839" y="1347020"/>
            <a:ext cx="8780205" cy="3195482"/>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a:extLst>
              <a:ext uri="{FF2B5EF4-FFF2-40B4-BE49-F238E27FC236}">
                <a16:creationId xmlns:a16="http://schemas.microsoft.com/office/drawing/2014/main" id="{DFC087D3-B18F-6AC8-EE02-D7DF12C49D45}"/>
              </a:ext>
            </a:extLst>
          </p:cNvPr>
          <p:cNvSpPr>
            <a:spLocks noGrp="1"/>
          </p:cNvSpPr>
          <p:nvPr>
            <p:ph type="subTitle" idx="1"/>
          </p:nvPr>
        </p:nvSpPr>
        <p:spPr>
          <a:xfrm>
            <a:off x="7659328" y="4857135"/>
            <a:ext cx="3657600" cy="878502"/>
          </a:xfrm>
        </p:spPr>
        <p:txBody>
          <a:bodyPr>
            <a:normAutofit fontScale="77500" lnSpcReduction="20000"/>
          </a:bodyPr>
          <a:lstStyle/>
          <a:p>
            <a:r>
              <a:rPr lang="en-US" dirty="0"/>
              <a:t>M </a:t>
            </a:r>
            <a:r>
              <a:rPr lang="en-US" dirty="0" err="1"/>
              <a:t>Sharanya</a:t>
            </a:r>
            <a:r>
              <a:rPr lang="en-US" dirty="0"/>
              <a:t> (23RH1A05EU)</a:t>
            </a:r>
          </a:p>
          <a:p>
            <a:r>
              <a:rPr lang="en-US" dirty="0"/>
              <a:t>M Tejasri (23RH1A05FC)</a:t>
            </a:r>
          </a:p>
          <a:p>
            <a:r>
              <a:rPr lang="en-US" dirty="0"/>
              <a:t>K </a:t>
            </a:r>
            <a:r>
              <a:rPr lang="en-US" dirty="0" err="1"/>
              <a:t>Spandana</a:t>
            </a:r>
            <a:r>
              <a:rPr lang="en-US" dirty="0"/>
              <a:t> (23RH1A0537)</a:t>
            </a:r>
            <a:endParaRPr lang="en-IN" dirty="0"/>
          </a:p>
        </p:txBody>
      </p:sp>
    </p:spTree>
    <p:extLst>
      <p:ext uri="{BB962C8B-B14F-4D97-AF65-F5344CB8AC3E}">
        <p14:creationId xmlns:p14="http://schemas.microsoft.com/office/powerpoint/2010/main" val="3394668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1EEA-7F12-667F-EA2F-51B554561E30}"/>
              </a:ext>
            </a:extLst>
          </p:cNvPr>
          <p:cNvSpPr>
            <a:spLocks noGrp="1"/>
          </p:cNvSpPr>
          <p:nvPr>
            <p:ph type="title"/>
          </p:nvPr>
        </p:nvSpPr>
        <p:spPr/>
        <p:txBody>
          <a:bodyPr/>
          <a:lstStyle/>
          <a:p>
            <a:pPr algn="l"/>
            <a:r>
              <a:rPr lang="en-US" dirty="0">
                <a:latin typeface="Algerian" panose="04020705040A02060702" pitchFamily="82" charset="0"/>
              </a:rPr>
              <a:t>CONTENTS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4DD92F0A-2908-5804-EA1D-D63A4DFCCBA6}"/>
              </a:ext>
            </a:extLst>
          </p:cNvPr>
          <p:cNvSpPr>
            <a:spLocks noGrp="1"/>
          </p:cNvSpPr>
          <p:nvPr>
            <p:ph idx="1"/>
          </p:nvPr>
        </p:nvSpPr>
        <p:spPr/>
        <p:txBody>
          <a:bodyPr/>
          <a:lstStyle/>
          <a:p>
            <a:r>
              <a:rPr lang="en-US" dirty="0"/>
              <a:t>Abstract</a:t>
            </a:r>
          </a:p>
          <a:p>
            <a:r>
              <a:rPr lang="en-US" dirty="0"/>
              <a:t>Existing system</a:t>
            </a:r>
          </a:p>
          <a:p>
            <a:r>
              <a:rPr lang="en-US" dirty="0"/>
              <a:t>Proposed system</a:t>
            </a:r>
          </a:p>
          <a:p>
            <a:r>
              <a:rPr lang="en-US" dirty="0"/>
              <a:t>Technology used</a:t>
            </a:r>
          </a:p>
          <a:p>
            <a:r>
              <a:rPr lang="en-US" dirty="0"/>
              <a:t>Advantages</a:t>
            </a:r>
          </a:p>
          <a:p>
            <a:r>
              <a:rPr lang="en-US" dirty="0"/>
              <a:t>Applications</a:t>
            </a:r>
          </a:p>
          <a:p>
            <a:r>
              <a:rPr lang="en-US" dirty="0"/>
              <a:t>Future scope</a:t>
            </a:r>
          </a:p>
          <a:p>
            <a:r>
              <a:rPr lang="en-US" dirty="0"/>
              <a:t>Conclusion</a:t>
            </a:r>
          </a:p>
          <a:p>
            <a:endParaRPr lang="en-IN" dirty="0"/>
          </a:p>
        </p:txBody>
      </p:sp>
    </p:spTree>
    <p:extLst>
      <p:ext uri="{BB962C8B-B14F-4D97-AF65-F5344CB8AC3E}">
        <p14:creationId xmlns:p14="http://schemas.microsoft.com/office/powerpoint/2010/main" val="1919550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BCA3-B94B-8D92-43AE-BD85BEE888D0}"/>
              </a:ext>
            </a:extLst>
          </p:cNvPr>
          <p:cNvSpPr>
            <a:spLocks noGrp="1"/>
          </p:cNvSpPr>
          <p:nvPr>
            <p:ph type="title"/>
          </p:nvPr>
        </p:nvSpPr>
        <p:spPr/>
        <p:txBody>
          <a:bodyPr/>
          <a:lstStyle/>
          <a:p>
            <a:pPr algn="ctr"/>
            <a:r>
              <a:rPr lang="en-US" dirty="0">
                <a:latin typeface="Algerian" panose="04020705040A02060702" pitchFamily="82" charset="0"/>
              </a:rPr>
              <a:t>ABSTRACT</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1DEA4391-87F4-18C9-873D-E4F04B7CEC53}"/>
              </a:ext>
            </a:extLst>
          </p:cNvPr>
          <p:cNvSpPr>
            <a:spLocks noGrp="1"/>
          </p:cNvSpPr>
          <p:nvPr>
            <p:ph idx="1"/>
          </p:nvPr>
        </p:nvSpPr>
        <p:spPr/>
        <p:txBody>
          <a:bodyPr>
            <a:normAutofit/>
          </a:bodyPr>
          <a:lstStyle/>
          <a:p>
            <a:pPr marL="0" indent="0">
              <a:buNone/>
            </a:pPr>
            <a:r>
              <a:rPr lang="en-US" dirty="0"/>
              <a:t>Financial Markets are complex and influenced by various factors , making investment decisions challenging.</a:t>
            </a:r>
          </a:p>
          <a:p>
            <a:pPr marL="0" indent="0">
              <a:buNone/>
            </a:pPr>
            <a:r>
              <a:rPr lang="en-US" dirty="0"/>
              <a:t>This project introduced a Machine Learning based stock price prediction model designed to enhance market analysis and support informed investment decisions.</a:t>
            </a:r>
          </a:p>
          <a:p>
            <a:pPr marL="0" indent="0">
              <a:buNone/>
            </a:pPr>
            <a:r>
              <a:rPr lang="en-US" dirty="0"/>
              <a:t>By gathering historical stock data, economical indicator , and real time market trends , the model uses advanced machine learning techniques predict future stock prices.</a:t>
            </a:r>
          </a:p>
          <a:p>
            <a:pPr marL="0" indent="0">
              <a:buNone/>
            </a:pPr>
            <a:r>
              <a:rPr lang="en-US" dirty="0"/>
              <a:t>The main goal of this project is provide investors and analysts with a tool that offers various potential market movements , helping in strategic planning of investment and risk management .</a:t>
            </a:r>
            <a:endParaRPr lang="en-IN" dirty="0"/>
          </a:p>
        </p:txBody>
      </p:sp>
    </p:spTree>
    <p:extLst>
      <p:ext uri="{BB962C8B-B14F-4D97-AF65-F5344CB8AC3E}">
        <p14:creationId xmlns:p14="http://schemas.microsoft.com/office/powerpoint/2010/main" val="141683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6598E-1BA0-4A75-7483-39F6472F8891}"/>
              </a:ext>
            </a:extLst>
          </p:cNvPr>
          <p:cNvSpPr>
            <a:spLocks noGrp="1"/>
          </p:cNvSpPr>
          <p:nvPr>
            <p:ph type="title"/>
          </p:nvPr>
        </p:nvSpPr>
        <p:spPr/>
        <p:txBody>
          <a:bodyPr/>
          <a:lstStyle/>
          <a:p>
            <a:pPr algn="ctr"/>
            <a:r>
              <a:rPr lang="en-US" dirty="0">
                <a:latin typeface="Algerian" panose="04020705040A02060702" pitchFamily="82" charset="0"/>
              </a:rPr>
              <a:t>EXISTING SYSTEM</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946ED6BC-D9E9-182A-5F38-84736E266C2B}"/>
              </a:ext>
            </a:extLst>
          </p:cNvPr>
          <p:cNvSpPr>
            <a:spLocks noGrp="1"/>
          </p:cNvSpPr>
          <p:nvPr>
            <p:ph idx="1"/>
          </p:nvPr>
        </p:nvSpPr>
        <p:spPr/>
        <p:txBody>
          <a:bodyPr>
            <a:normAutofit/>
          </a:bodyPr>
          <a:lstStyle/>
          <a:p>
            <a:r>
              <a:rPr lang="en-US" sz="2000" dirty="0">
                <a:latin typeface="Arial Rounded MT Bold" panose="020F0704030504030204" pitchFamily="34" charset="0"/>
              </a:rPr>
              <a:t>Traditional Methods</a:t>
            </a:r>
            <a:r>
              <a:rPr lang="en-US" sz="2000" dirty="0"/>
              <a:t>: Current methods largely rely on fundamental and technical analysis , which require manual interpretation and time consuming.</a:t>
            </a:r>
          </a:p>
          <a:p>
            <a:r>
              <a:rPr lang="en-US" sz="2000" dirty="0">
                <a:latin typeface="Arial Rounded MT Bold" panose="020F0704030504030204" pitchFamily="34" charset="0"/>
              </a:rPr>
              <a:t>Reactive Investment Strategies</a:t>
            </a:r>
            <a:r>
              <a:rPr lang="en-US" sz="2000" dirty="0"/>
              <a:t>: Many existing models are reactive, providing insights after significant market movements have already occurred, which can limit their effectiveness in proactive decision-making. </a:t>
            </a:r>
          </a:p>
          <a:p>
            <a:r>
              <a:rPr lang="en-US" sz="2000" dirty="0">
                <a:latin typeface="Arial Rounded MT Bold" panose="020F0704030504030204" pitchFamily="34" charset="0"/>
              </a:rPr>
              <a:t>Limited Data Integration</a:t>
            </a:r>
            <a:r>
              <a:rPr lang="en-US" sz="2000" dirty="0"/>
              <a:t>: Most traditional systems do not integrate diverse data sources effectively, often overlooking the impact of less obvious factors such as social media sentiment, geopolitical events, or macroeconomic changes. </a:t>
            </a:r>
            <a:endParaRPr lang="en-IN" sz="2000" dirty="0"/>
          </a:p>
        </p:txBody>
      </p:sp>
    </p:spTree>
    <p:extLst>
      <p:ext uri="{BB962C8B-B14F-4D97-AF65-F5344CB8AC3E}">
        <p14:creationId xmlns:p14="http://schemas.microsoft.com/office/powerpoint/2010/main" val="2005159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0C98-2C97-EB39-E2B9-DC984E74C33B}"/>
              </a:ext>
            </a:extLst>
          </p:cNvPr>
          <p:cNvSpPr>
            <a:spLocks noGrp="1"/>
          </p:cNvSpPr>
          <p:nvPr>
            <p:ph type="title"/>
          </p:nvPr>
        </p:nvSpPr>
        <p:spPr/>
        <p:txBody>
          <a:bodyPr/>
          <a:lstStyle/>
          <a:p>
            <a:pPr algn="ctr"/>
            <a:r>
              <a:rPr lang="en-US" dirty="0">
                <a:latin typeface="Algerian" panose="04020705040A02060702" pitchFamily="82" charset="0"/>
              </a:rPr>
              <a:t>PROPOSED SYSTEM</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609E90E2-C6B3-C5FE-516E-8F894018F666}"/>
              </a:ext>
            </a:extLst>
          </p:cNvPr>
          <p:cNvSpPr>
            <a:spLocks noGrp="1"/>
          </p:cNvSpPr>
          <p:nvPr>
            <p:ph idx="1"/>
          </p:nvPr>
        </p:nvSpPr>
        <p:spPr/>
        <p:txBody>
          <a:bodyPr>
            <a:normAutofit/>
          </a:bodyPr>
          <a:lstStyle/>
          <a:p>
            <a:r>
              <a:rPr lang="en-US" sz="1900" dirty="0">
                <a:latin typeface="Algerian" panose="04020705040A02060702" pitchFamily="82" charset="0"/>
              </a:rPr>
              <a:t>Comprehensive Data Analysis: </a:t>
            </a:r>
            <a:r>
              <a:rPr lang="en-US" sz="1900" dirty="0"/>
              <a:t>The model utilizes a wide array of data inputs, including historical price data, volume trends, economic indicators, news sentiment analysis, and even social media trends, to create a multifaceted prediction model.</a:t>
            </a:r>
          </a:p>
          <a:p>
            <a:r>
              <a:rPr lang="en-US" sz="1900" dirty="0">
                <a:latin typeface="Algerian" panose="04020705040A02060702" pitchFamily="82" charset="0"/>
              </a:rPr>
              <a:t>Real-Time Predictive Insights: </a:t>
            </a:r>
            <a:r>
              <a:rPr lang="en-US" sz="1900" dirty="0"/>
              <a:t>The system provides real-time predictions and market insights, enabling investors to make decisions quickly in response to market changes.</a:t>
            </a:r>
          </a:p>
          <a:p>
            <a:r>
              <a:rPr lang="en-US" sz="1900" dirty="0">
                <a:latin typeface="Algerian" panose="04020705040A02060702" pitchFamily="82" charset="0"/>
              </a:rPr>
              <a:t>User-Friendly Interface: </a:t>
            </a:r>
            <a:r>
              <a:rPr lang="en-US" sz="1900" dirty="0"/>
              <a:t>A straightforward, user-friendly interface allows investors of all skill levels to understand and utilize the predictions made by the model, democratizing access to advanced market analysis tools. </a:t>
            </a:r>
          </a:p>
          <a:p>
            <a:r>
              <a:rPr lang="en-US" sz="1900" dirty="0">
                <a:latin typeface="Algerian" panose="04020705040A02060702" pitchFamily="82" charset="0"/>
              </a:rPr>
              <a:t>Adaptive Learning Algorithms: </a:t>
            </a:r>
            <a:r>
              <a:rPr lang="en-US" sz="1900" dirty="0"/>
              <a:t>The model includes adaptive learning capabilities, where it continuously learns from new data and adjusts its predictions accordingly, maintaining high accuracy over time</a:t>
            </a:r>
            <a:r>
              <a:rPr lang="en-US" dirty="0"/>
              <a:t>.</a:t>
            </a:r>
            <a:endParaRPr lang="en-IN" dirty="0"/>
          </a:p>
        </p:txBody>
      </p:sp>
    </p:spTree>
    <p:extLst>
      <p:ext uri="{BB962C8B-B14F-4D97-AF65-F5344CB8AC3E}">
        <p14:creationId xmlns:p14="http://schemas.microsoft.com/office/powerpoint/2010/main" val="191763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5C04-6125-EDCB-0AF8-6A99C54499B3}"/>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B4A0EAAA-60D3-AA43-8C9B-383595A366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2852" y="4483510"/>
            <a:ext cx="4737529" cy="2092513"/>
          </a:xfrm>
        </p:spPr>
      </p:pic>
      <p:pic>
        <p:nvPicPr>
          <p:cNvPr id="7" name="Picture 6">
            <a:extLst>
              <a:ext uri="{FF2B5EF4-FFF2-40B4-BE49-F238E27FC236}">
                <a16:creationId xmlns:a16="http://schemas.microsoft.com/office/drawing/2014/main" id="{0678E4EF-09ED-E167-5F0F-0E5E974C86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852" y="2057401"/>
            <a:ext cx="4737528" cy="2261743"/>
          </a:xfrm>
          <a:prstGeom prst="rect">
            <a:avLst/>
          </a:prstGeom>
        </p:spPr>
      </p:pic>
      <p:pic>
        <p:nvPicPr>
          <p:cNvPr id="9" name="Picture 8">
            <a:extLst>
              <a:ext uri="{FF2B5EF4-FFF2-40B4-BE49-F238E27FC236}">
                <a16:creationId xmlns:a16="http://schemas.microsoft.com/office/drawing/2014/main" id="{FD1B7C4D-C94D-189C-1730-081F7421D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8351" y="2057401"/>
            <a:ext cx="4467849" cy="4534533"/>
          </a:xfrm>
          <a:prstGeom prst="rect">
            <a:avLst/>
          </a:prstGeom>
        </p:spPr>
      </p:pic>
    </p:spTree>
    <p:extLst>
      <p:ext uri="{BB962C8B-B14F-4D97-AF65-F5344CB8AC3E}">
        <p14:creationId xmlns:p14="http://schemas.microsoft.com/office/powerpoint/2010/main" val="3824237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C78B-38D4-C930-7F9A-E8D726D0EE7E}"/>
              </a:ext>
            </a:extLst>
          </p:cNvPr>
          <p:cNvSpPr>
            <a:spLocks noGrp="1"/>
          </p:cNvSpPr>
          <p:nvPr>
            <p:ph type="title"/>
          </p:nvPr>
        </p:nvSpPr>
        <p:spPr/>
        <p:txBody>
          <a:bodyPr/>
          <a:lstStyle/>
          <a:p>
            <a:pPr algn="ctr"/>
            <a:r>
              <a:rPr lang="en-US" dirty="0">
                <a:latin typeface="Algerian" panose="04020705040A02060702" pitchFamily="82" charset="0"/>
              </a:rPr>
              <a:t>TECHNOLOGY USED</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E0EB249C-B992-6BF6-0BD7-2649D58C800B}"/>
              </a:ext>
            </a:extLst>
          </p:cNvPr>
          <p:cNvSpPr>
            <a:spLocks noGrp="1"/>
          </p:cNvSpPr>
          <p:nvPr>
            <p:ph idx="1"/>
          </p:nvPr>
        </p:nvSpPr>
        <p:spPr/>
        <p:txBody>
          <a:bodyPr/>
          <a:lstStyle/>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a:solidFill>
                  <a:srgbClr val="000000"/>
                </a:solidFill>
                <a:highlight>
                  <a:srgbClr val="FFFFFF"/>
                </a:highlight>
                <a:latin typeface="Arial" panose="020B0604020202020204" pitchFamily="34" charset="0"/>
                <a:ea typeface="Calibri" panose="020F0502020204030204" pitchFamily="34" charset="0"/>
                <a:cs typeface="Gautami" panose="020B0502040204020203" pitchFamily="34" charset="0"/>
              </a:rPr>
              <a:t>Pandas</a:t>
            </a:r>
            <a:r>
              <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 This library helps to load the data frame in a 2D array format and has multiple functions to perform analysis tasks in one go.</a:t>
            </a:r>
            <a:endParaRPr lang="en-IN" sz="1800" dirty="0">
              <a:effectLst/>
              <a:highlight>
                <a:srgbClr val="FFFFFF"/>
              </a:highlight>
              <a:latin typeface="Calibri" panose="020F0502020204030204" pitchFamily="34" charset="0"/>
              <a:ea typeface="Calibri" panose="020F0502020204030204" pitchFamily="34" charset="0"/>
              <a:cs typeface="Gautami" panose="020B0502040204020203" pitchFamily="34"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err="1">
                <a:solidFill>
                  <a:srgbClr val="000000"/>
                </a:solidFill>
                <a:highlight>
                  <a:srgbClr val="FFFFFF"/>
                </a:highlight>
                <a:latin typeface="Arial" panose="020B0604020202020204" pitchFamily="34" charset="0"/>
                <a:ea typeface="Calibri" panose="020F0502020204030204" pitchFamily="34" charset="0"/>
                <a:cs typeface="Gautami" panose="020B0502040204020203" pitchFamily="34" charset="0"/>
              </a:rPr>
              <a:t>Numpy</a:t>
            </a:r>
            <a:r>
              <a:rPr lang="en-IN" sz="1800" b="1" spc="10" dirty="0">
                <a:solidFill>
                  <a:srgbClr val="000000"/>
                </a:solidFill>
                <a:highlight>
                  <a:srgbClr val="FFFFFF"/>
                </a:highlight>
                <a:latin typeface="Arial" panose="020B0604020202020204" pitchFamily="34" charset="0"/>
                <a:ea typeface="Calibri" panose="020F0502020204030204" pitchFamily="34" charset="0"/>
                <a:cs typeface="Gautami" panose="020B0502040204020203" pitchFamily="34" charset="0"/>
              </a:rPr>
              <a:t> -</a:t>
            </a:r>
            <a:r>
              <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  </a:t>
            </a:r>
            <a:r>
              <a:rPr lang="en-IN" sz="1800" spc="10" dirty="0" err="1">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Numpy</a:t>
            </a:r>
            <a:r>
              <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 arrays are very fast and can perform large computations in a very short time</a:t>
            </a:r>
            <a:endParaRPr lang="en-IN" sz="1800" dirty="0">
              <a:effectLst/>
              <a:highlight>
                <a:srgbClr val="FFFFFF"/>
              </a:highlight>
              <a:latin typeface="Calibri" panose="020F0502020204030204" pitchFamily="34" charset="0"/>
              <a:ea typeface="Calibri" panose="020F0502020204030204" pitchFamily="34" charset="0"/>
              <a:cs typeface="Gautami" panose="020B0502040204020203" pitchFamily="34"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a:solidFill>
                  <a:srgbClr val="000000"/>
                </a:solidFill>
                <a:highlight>
                  <a:srgbClr val="FFFFFF"/>
                </a:highlight>
                <a:latin typeface="Arial" panose="020B0604020202020204" pitchFamily="34" charset="0"/>
                <a:ea typeface="Calibri" panose="020F0502020204030204" pitchFamily="34" charset="0"/>
                <a:cs typeface="Gautami" panose="020B0502040204020203" pitchFamily="34" charset="0"/>
              </a:rPr>
              <a:t>Matplotlib </a:t>
            </a:r>
            <a:r>
              <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 This library is used to draw visualizations.</a:t>
            </a:r>
          </a:p>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err="1">
                <a:highlight>
                  <a:srgbClr val="FFFFFF"/>
                </a:highlight>
                <a:latin typeface="Arial" panose="020B0604020202020204" pitchFamily="34" charset="0"/>
                <a:ea typeface="Calibri" panose="020F0502020204030204" pitchFamily="34" charset="0"/>
                <a:cs typeface="Gautami" panose="020B0502040204020203" pitchFamily="34" charset="0"/>
              </a:rPr>
              <a:t>Streamlit</a:t>
            </a:r>
            <a:r>
              <a:rPr lang="en-IN" sz="1800" spc="10" dirty="0">
                <a:solidFill>
                  <a:srgbClr val="273239"/>
                </a:solidFill>
                <a:highlight>
                  <a:srgbClr val="FFFFFF"/>
                </a:highlight>
                <a:latin typeface="Arial" panose="020B0604020202020204" pitchFamily="34" charset="0"/>
                <a:ea typeface="Calibri" panose="020F0502020204030204" pitchFamily="34" charset="0"/>
                <a:cs typeface="Gautami" panose="020B0502040204020203" pitchFamily="34" charset="0"/>
              </a:rPr>
              <a:t> – Open source Python library used for building data science web applications.</a:t>
            </a:r>
          </a:p>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err="1">
                <a:effectLst/>
                <a:highlight>
                  <a:srgbClr val="FFFFFF"/>
                </a:highlight>
                <a:latin typeface="Arial" panose="020B0604020202020204" pitchFamily="34" charset="0"/>
                <a:ea typeface="Calibri" panose="020F0502020204030204" pitchFamily="34" charset="0"/>
                <a:cs typeface="Gautami" panose="020B0502040204020203" pitchFamily="34" charset="0"/>
              </a:rPr>
              <a:t>Ploty</a:t>
            </a:r>
            <a:r>
              <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rPr>
              <a:t> – is an interactive open-source and browser based graphing library..</a:t>
            </a:r>
          </a:p>
          <a:p>
            <a:pPr marL="342900" lvl="0" indent="-342900" fontAlgn="base">
              <a:lnSpc>
                <a:spcPct val="115000"/>
              </a:lnSpc>
              <a:spcAft>
                <a:spcPts val="1000"/>
              </a:spcAft>
              <a:buSzPts val="1000"/>
              <a:buFont typeface="Symbol" panose="05050102010706020507" pitchFamily="18" charset="2"/>
              <a:buChar char=""/>
              <a:tabLst>
                <a:tab pos="457200" algn="l"/>
              </a:tabLst>
            </a:pPr>
            <a:r>
              <a:rPr lang="en-IN" sz="1800" b="1" spc="10" dirty="0">
                <a:highlight>
                  <a:srgbClr val="FFFFFF"/>
                </a:highlight>
                <a:latin typeface="Arial" panose="020B0604020202020204" pitchFamily="34" charset="0"/>
                <a:ea typeface="Calibri" panose="020F0502020204030204" pitchFamily="34" charset="0"/>
                <a:cs typeface="Gautami" panose="020B0502040204020203" pitchFamily="34" charset="0"/>
              </a:rPr>
              <a:t>GUI</a:t>
            </a:r>
            <a:r>
              <a:rPr lang="en-IN" sz="1800" spc="10" dirty="0">
                <a:solidFill>
                  <a:srgbClr val="273239"/>
                </a:solidFill>
                <a:highlight>
                  <a:srgbClr val="FFFFFF"/>
                </a:highlight>
                <a:latin typeface="Arial" panose="020B0604020202020204" pitchFamily="34" charset="0"/>
                <a:ea typeface="Calibri" panose="020F0502020204030204" pitchFamily="34" charset="0"/>
                <a:cs typeface="Gautami" panose="020B0502040204020203" pitchFamily="34" charset="0"/>
              </a:rPr>
              <a:t> – Graphical user interface used to display the output..</a:t>
            </a:r>
            <a:endParaRPr lang="en-IN" sz="1800" spc="10" dirty="0">
              <a:solidFill>
                <a:srgbClr val="273239"/>
              </a:solidFill>
              <a:effectLst/>
              <a:highlight>
                <a:srgbClr val="FFFFFF"/>
              </a:highlight>
              <a:latin typeface="Arial" panose="020B0604020202020204" pitchFamily="34" charset="0"/>
              <a:ea typeface="Calibri" panose="020F0502020204030204" pitchFamily="34" charset="0"/>
              <a:cs typeface="Gautami" panose="020B0502040204020203" pitchFamily="34" charset="0"/>
            </a:endParaRPr>
          </a:p>
          <a:p>
            <a:pPr marL="0" lvl="0" indent="0" fontAlgn="base">
              <a:lnSpc>
                <a:spcPct val="115000"/>
              </a:lnSpc>
              <a:spcAft>
                <a:spcPts val="1000"/>
              </a:spcAft>
              <a:buSzPts val="1000"/>
              <a:buNone/>
              <a:tabLst>
                <a:tab pos="457200" algn="l"/>
              </a:tabLst>
            </a:pPr>
            <a:endParaRPr lang="en-IN" sz="1800" dirty="0">
              <a:effectLst/>
              <a:highlight>
                <a:srgbClr val="FFFFFF"/>
              </a:highligh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843865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F7ED-4B11-A557-5AC6-39C9C0C60DDC}"/>
              </a:ext>
            </a:extLst>
          </p:cNvPr>
          <p:cNvSpPr>
            <a:spLocks noGrp="1"/>
          </p:cNvSpPr>
          <p:nvPr>
            <p:ph type="title"/>
          </p:nvPr>
        </p:nvSpPr>
        <p:spPr/>
        <p:txBody>
          <a:bodyPr/>
          <a:lstStyle/>
          <a:p>
            <a:pPr algn="ctr"/>
            <a:r>
              <a:rPr lang="en-US" dirty="0">
                <a:latin typeface="Algerian" panose="04020705040A02060702" pitchFamily="82" charset="0"/>
              </a:rPr>
              <a:t>ADVANTAGES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5B6E407D-0B23-599B-3804-BA3B856CBD7B}"/>
              </a:ext>
            </a:extLst>
          </p:cNvPr>
          <p:cNvSpPr>
            <a:spLocks noGrp="1"/>
          </p:cNvSpPr>
          <p:nvPr>
            <p:ph idx="1"/>
          </p:nvPr>
        </p:nvSpPr>
        <p:spPr/>
        <p:txBody>
          <a:bodyPr/>
          <a:lstStyle/>
          <a:p>
            <a:r>
              <a:rPr lang="en-US" dirty="0"/>
              <a:t>Handling Large Datasets: ML algorithms can process and analyze vast amounts of data quickly…</a:t>
            </a:r>
          </a:p>
          <a:p>
            <a:r>
              <a:rPr lang="en-US" dirty="0"/>
              <a:t>Pattern Recognition: ML models excel at identifying complex patterns and trends in data that may not be apparent to human analysts or through traditional statistical methods.</a:t>
            </a:r>
          </a:p>
          <a:p>
            <a:r>
              <a:rPr lang="en-US" dirty="0"/>
              <a:t>Speed and Efficiency: Once trained, ML models can generate predictions in real-time, making them highly useful for high-frequency trading where decisions need to be made in milliseconds.</a:t>
            </a:r>
          </a:p>
          <a:p>
            <a:r>
              <a:rPr lang="en-US" dirty="0"/>
              <a:t>Risk Management: By predicting potential price movements, ML models can be used to assess risk and manage portfolios more effectively, helping to mitigate potential losses.</a:t>
            </a:r>
            <a:endParaRPr lang="en-IN" dirty="0"/>
          </a:p>
        </p:txBody>
      </p:sp>
    </p:spTree>
    <p:extLst>
      <p:ext uri="{BB962C8B-B14F-4D97-AF65-F5344CB8AC3E}">
        <p14:creationId xmlns:p14="http://schemas.microsoft.com/office/powerpoint/2010/main" val="3761917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FC9FB-2A74-3FF2-32A2-669C77AF39B8}"/>
              </a:ext>
            </a:extLst>
          </p:cNvPr>
          <p:cNvSpPr>
            <a:spLocks noGrp="1"/>
          </p:cNvSpPr>
          <p:nvPr>
            <p:ph type="title"/>
          </p:nvPr>
        </p:nvSpPr>
        <p:spPr/>
        <p:txBody>
          <a:bodyPr/>
          <a:lstStyle/>
          <a:p>
            <a:pPr algn="ctr"/>
            <a:r>
              <a:rPr lang="en-US" dirty="0">
                <a:latin typeface="Algerian" panose="04020705040A02060702" pitchFamily="82" charset="0"/>
              </a:rPr>
              <a:t>APPLICATIONS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7E51FE4D-C32E-B30E-FC2F-9BAB2A490A8E}"/>
              </a:ext>
            </a:extLst>
          </p:cNvPr>
          <p:cNvSpPr>
            <a:spLocks noGrp="1"/>
          </p:cNvSpPr>
          <p:nvPr>
            <p:ph idx="1"/>
          </p:nvPr>
        </p:nvSpPr>
        <p:spPr/>
        <p:txBody>
          <a:bodyPr>
            <a:normAutofit/>
          </a:bodyPr>
          <a:lstStyle/>
          <a:p>
            <a:r>
              <a:rPr lang="en-US" dirty="0"/>
              <a:t>1. Individual Investors: </a:t>
            </a:r>
            <a:r>
              <a:rPr lang="en-US" sz="2200" dirty="0"/>
              <a:t>Helps individual traders and investors make more informed decisions about buying, holding, or selling stocks. </a:t>
            </a:r>
          </a:p>
          <a:p>
            <a:r>
              <a:rPr lang="en-US" dirty="0"/>
              <a:t>2</a:t>
            </a:r>
            <a:r>
              <a:rPr lang="en-US" sz="1700" dirty="0"/>
              <a:t>. </a:t>
            </a:r>
            <a:r>
              <a:rPr lang="en-US" sz="2600" dirty="0"/>
              <a:t>Financial Analysts: </a:t>
            </a:r>
            <a:r>
              <a:rPr lang="en-US" sz="2200" dirty="0"/>
              <a:t>Provides financial analysts with enhanced tools for market analysis, report generation, and client advisory services.</a:t>
            </a:r>
          </a:p>
          <a:p>
            <a:r>
              <a:rPr lang="en-US" sz="2200" dirty="0"/>
              <a:t> </a:t>
            </a:r>
            <a:r>
              <a:rPr lang="en-US" dirty="0"/>
              <a:t>3</a:t>
            </a:r>
            <a:r>
              <a:rPr lang="en-US" sz="2200" dirty="0"/>
              <a:t>.</a:t>
            </a:r>
            <a:r>
              <a:rPr lang="en-US" sz="1700" dirty="0"/>
              <a:t> </a:t>
            </a:r>
            <a:r>
              <a:rPr lang="en-US" sz="2600" dirty="0"/>
              <a:t>Investment Firms: </a:t>
            </a:r>
            <a:r>
              <a:rPr lang="en-US" sz="2200" dirty="0"/>
              <a:t>Assists investment firms in portfolio management, asset allocation, and risk assessment, enhancing overall investment strategies.</a:t>
            </a:r>
          </a:p>
          <a:p>
            <a:r>
              <a:rPr lang="en-US" dirty="0"/>
              <a:t>4. </a:t>
            </a:r>
            <a:r>
              <a:rPr lang="en-US" sz="2600" dirty="0"/>
              <a:t>Academic Research: </a:t>
            </a:r>
            <a:r>
              <a:rPr lang="en-US" sz="2200" dirty="0"/>
              <a:t>Useful in academic settings for research into financial markets, machine learning applications in finance, and economic forecasting.</a:t>
            </a:r>
            <a:endParaRPr lang="en-IN" sz="2200" dirty="0"/>
          </a:p>
        </p:txBody>
      </p:sp>
    </p:spTree>
    <p:extLst>
      <p:ext uri="{BB962C8B-B14F-4D97-AF65-F5344CB8AC3E}">
        <p14:creationId xmlns:p14="http://schemas.microsoft.com/office/powerpoint/2010/main" val="1961399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77A0A-648C-003A-03A2-B9612F3FCE75}"/>
              </a:ext>
            </a:extLst>
          </p:cNvPr>
          <p:cNvSpPr>
            <a:spLocks noGrp="1"/>
          </p:cNvSpPr>
          <p:nvPr>
            <p:ph type="title"/>
          </p:nvPr>
        </p:nvSpPr>
        <p:spPr/>
        <p:txBody>
          <a:bodyPr/>
          <a:lstStyle/>
          <a:p>
            <a:pPr algn="ctr"/>
            <a:r>
              <a:rPr lang="en-US" dirty="0">
                <a:latin typeface="Algerian" panose="04020705040A02060702" pitchFamily="82" charset="0"/>
              </a:rPr>
              <a:t>FUTURE SCOPE</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6E2BCFEF-0465-CACF-202A-0B8BDB3F2F23}"/>
              </a:ext>
            </a:extLst>
          </p:cNvPr>
          <p:cNvSpPr>
            <a:spLocks noGrp="1"/>
          </p:cNvSpPr>
          <p:nvPr>
            <p:ph idx="1"/>
          </p:nvPr>
        </p:nvSpPr>
        <p:spPr/>
        <p:txBody>
          <a:bodyPr/>
          <a:lstStyle/>
          <a:p>
            <a:r>
              <a:rPr lang="en-US" dirty="0"/>
              <a:t>The future of stock price prediction using machine learning is set to be shaped by ongoing technological advancements increased data availability and etc..</a:t>
            </a:r>
          </a:p>
          <a:p>
            <a:r>
              <a:rPr lang="en-US" dirty="0"/>
              <a:t>Stock Market Prediction is the act of trying to determine the future value of companies stock are other financial instruments traded on an exchange.</a:t>
            </a:r>
          </a:p>
          <a:p>
            <a:r>
              <a:rPr lang="en-US" dirty="0"/>
              <a:t>The successful prediction of a stocks future price could yield significant profit.</a:t>
            </a:r>
          </a:p>
          <a:p>
            <a:endParaRPr lang="en-US" dirty="0"/>
          </a:p>
          <a:p>
            <a:endParaRPr lang="en-US" dirty="0"/>
          </a:p>
          <a:p>
            <a:endParaRPr lang="en-IN" dirty="0"/>
          </a:p>
        </p:txBody>
      </p:sp>
    </p:spTree>
    <p:extLst>
      <p:ext uri="{BB962C8B-B14F-4D97-AF65-F5344CB8AC3E}">
        <p14:creationId xmlns:p14="http://schemas.microsoft.com/office/powerpoint/2010/main" val="2164357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9A8C8-8589-C3DD-8CBD-AF8947E33ECE}"/>
              </a:ext>
            </a:extLst>
          </p:cNvPr>
          <p:cNvSpPr>
            <a:spLocks noGrp="1"/>
          </p:cNvSpPr>
          <p:nvPr>
            <p:ph type="title"/>
          </p:nvPr>
        </p:nvSpPr>
        <p:spPr/>
        <p:txBody>
          <a:bodyPr/>
          <a:lstStyle/>
          <a:p>
            <a:pPr algn="ctr"/>
            <a:r>
              <a:rPr lang="en-US" dirty="0">
                <a:latin typeface="Algerian" panose="04020705040A02060702" pitchFamily="82" charset="0"/>
              </a:rPr>
              <a:t>CONCLUSION</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784AF697-0E5E-588C-19C2-E06372C1F3DE}"/>
              </a:ext>
            </a:extLst>
          </p:cNvPr>
          <p:cNvSpPr>
            <a:spLocks noGrp="1"/>
          </p:cNvSpPr>
          <p:nvPr>
            <p:ph idx="1"/>
          </p:nvPr>
        </p:nvSpPr>
        <p:spPr/>
        <p:txBody>
          <a:bodyPr>
            <a:normAutofit/>
          </a:bodyPr>
          <a:lstStyle/>
          <a:p>
            <a:pPr marL="0" indent="0">
              <a:lnSpc>
                <a:spcPct val="115000"/>
              </a:lnSpc>
              <a:spcAft>
                <a:spcPts val="1000"/>
              </a:spcAft>
              <a:buNone/>
            </a:pPr>
            <a:r>
              <a:rPr lang="en-IN" sz="2000" dirty="0">
                <a:effectLst/>
                <a:latin typeface="Calibri" panose="020F0502020204030204" pitchFamily="34" charset="0"/>
                <a:ea typeface="Calibri" panose="020F0502020204030204" pitchFamily="34" charset="0"/>
                <a:cs typeface="Gautami" panose="020B0502040204020203" pitchFamily="34" charset="0"/>
              </a:rPr>
              <a:t>In conclusion, we've advanced a complete internet- based totally platform for inventory market evaluation and prediction, net technology and facts analysis techniques. Our platform provides users with a consumer-pleasant interface, actual-time data retrieval capabilities, advanced records visualization techniques, and forecasting algorithms, empowering them to make informed investment choices in the risky global of monetary </a:t>
            </a:r>
            <a:r>
              <a:rPr lang="en-IN" sz="2000" dirty="0" err="1">
                <a:effectLst/>
                <a:latin typeface="Calibri" panose="020F0502020204030204" pitchFamily="34" charset="0"/>
                <a:ea typeface="Calibri" panose="020F0502020204030204" pitchFamily="34" charset="0"/>
                <a:cs typeface="Gautami" panose="020B0502040204020203" pitchFamily="34" charset="0"/>
              </a:rPr>
              <a:t>markets</a:t>
            </a:r>
            <a:r>
              <a:rPr lang="en-IN" sz="2000" dirty="0" err="1">
                <a:latin typeface="Calibri" panose="020F0502020204030204" pitchFamily="34" charset="0"/>
                <a:ea typeface="Calibri" panose="020F0502020204030204" pitchFamily="34" charset="0"/>
                <a:cs typeface="Gautami" panose="020B0502040204020203" pitchFamily="34" charset="0"/>
              </a:rPr>
              <a:t>,</a:t>
            </a:r>
            <a:r>
              <a:rPr lang="en-IN" sz="2000" dirty="0" err="1">
                <a:effectLst/>
                <a:latin typeface="Calibri" panose="020F0502020204030204" pitchFamily="34" charset="0"/>
                <a:ea typeface="Calibri" panose="020F0502020204030204" pitchFamily="34" charset="0"/>
                <a:cs typeface="Gautami" panose="020B0502040204020203" pitchFamily="34" charset="0"/>
              </a:rPr>
              <a:t>by</a:t>
            </a:r>
            <a:r>
              <a:rPr lang="en-IN" sz="2000" dirty="0">
                <a:effectLst/>
                <a:latin typeface="Calibri" panose="020F0502020204030204" pitchFamily="34" charset="0"/>
                <a:ea typeface="Calibri" panose="020F0502020204030204" pitchFamily="34" charset="0"/>
                <a:cs typeface="Gautami" panose="020B0502040204020203" pitchFamily="34" charset="0"/>
              </a:rPr>
              <a:t> means of combining the power of Flask, MySQL, Pandas, </a:t>
            </a:r>
            <a:r>
              <a:rPr lang="en-IN" sz="2000" dirty="0" err="1">
                <a:effectLst/>
                <a:latin typeface="Calibri" panose="020F0502020204030204" pitchFamily="34" charset="0"/>
                <a:ea typeface="Calibri" panose="020F0502020204030204" pitchFamily="34" charset="0"/>
                <a:cs typeface="Gautami" panose="020B0502040204020203" pitchFamily="34" charset="0"/>
              </a:rPr>
              <a:t>Plotly</a:t>
            </a:r>
            <a:r>
              <a:rPr lang="en-IN" sz="2000" dirty="0">
                <a:effectLst/>
                <a:latin typeface="Calibri" panose="020F0502020204030204" pitchFamily="34" charset="0"/>
                <a:ea typeface="Calibri" panose="020F0502020204030204" pitchFamily="34" charset="0"/>
                <a:cs typeface="Gautami" panose="020B0502040204020203" pitchFamily="34" charset="0"/>
              </a:rPr>
              <a:t> , and Prophet, our platform gives a strong tool for inventory market analysis and prediction, ultimately improving customers' success in the dynamic global of monetary markets.</a:t>
            </a:r>
          </a:p>
        </p:txBody>
      </p:sp>
    </p:spTree>
    <p:extLst>
      <p:ext uri="{BB962C8B-B14F-4D97-AF65-F5344CB8AC3E}">
        <p14:creationId xmlns:p14="http://schemas.microsoft.com/office/powerpoint/2010/main" val="407413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ext Sign Showing Thank You. Business Photo Showcasing Polite Expression  Used When Acknowledging Gift Service Compliment Lady Presenting Hand Blue  Glow Futuristic Modern Technology Tech Graph Economy Look Stock Photo,  Picture and">
            <a:extLst>
              <a:ext uri="{FF2B5EF4-FFF2-40B4-BE49-F238E27FC236}">
                <a16:creationId xmlns:a16="http://schemas.microsoft.com/office/drawing/2014/main" id="{6F20CC29-845E-A65D-0812-350BEDA962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3265" y="2163097"/>
            <a:ext cx="7836309" cy="3353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37076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
  <TotalTime>100</TotalTime>
  <Words>811</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Algerian</vt:lpstr>
      <vt:lpstr>Arial</vt:lpstr>
      <vt:lpstr>Arial Rounded MT Bold</vt:lpstr>
      <vt:lpstr>Calibri</vt:lpstr>
      <vt:lpstr>Century Gothic</vt:lpstr>
      <vt:lpstr>Symbol</vt:lpstr>
      <vt:lpstr>Vapor Trail</vt:lpstr>
      <vt:lpstr>PowerPoint Presentation</vt:lpstr>
      <vt:lpstr>CONTENTS</vt:lpstr>
      <vt:lpstr>ABSTRACT</vt:lpstr>
      <vt:lpstr>EXISTING SYSTEM</vt:lpstr>
      <vt:lpstr>PROPOSED SYSTEM</vt:lpstr>
      <vt:lpstr>PowerPoint Presentation</vt:lpstr>
      <vt:lpstr>TECHNOLOGY USED</vt:lpstr>
      <vt:lpstr>ADVANTAGES</vt:lpstr>
      <vt:lpstr>APPLICATIONS</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Tejasri</dc:creator>
  <cp:lastModifiedBy>M Tejasri</cp:lastModifiedBy>
  <cp:revision>1</cp:revision>
  <dcterms:created xsi:type="dcterms:W3CDTF">2024-08-28T09:06:09Z</dcterms:created>
  <dcterms:modified xsi:type="dcterms:W3CDTF">2024-08-28T13:41:15Z</dcterms:modified>
</cp:coreProperties>
</file>